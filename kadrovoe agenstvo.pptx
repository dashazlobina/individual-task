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sldIdLst>
    <p:sldId id="256" r:id="rId2"/>
    <p:sldId id="263" r:id="rId3"/>
    <p:sldId id="264" r:id="rId4"/>
    <p:sldId id="267" r:id="rId5"/>
    <p:sldId id="268" r:id="rId6"/>
    <p:sldId id="270" r:id="rId7"/>
    <p:sldId id="271" r:id="rId8"/>
    <p:sldId id="272" r:id="rId9"/>
    <p:sldId id="269" r:id="rId10"/>
    <p:sldId id="277" r:id="rId11"/>
    <p:sldId id="273" r:id="rId12"/>
    <p:sldId id="274" r:id="rId13"/>
    <p:sldId id="275" r:id="rId14"/>
    <p:sldId id="276" r:id="rId15"/>
    <p:sldId id="278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4A0198-BFB4-81D5-1E95-45F175B4922F}" v="2043" dt="2026-01-13T19:06:13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 userDrawn="1"/>
        </p:nvSpPr>
        <p:spPr>
          <a:xfrm>
            <a:off x="1" y="0"/>
            <a:ext cx="916162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014608" y="2858518"/>
            <a:ext cx="6784230" cy="16017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24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014608" y="4679018"/>
            <a:ext cx="6784230" cy="651625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pic>
        <p:nvPicPr>
          <p:cNvPr id="28" name="Рисунок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51" y="764789"/>
            <a:ext cx="1187679" cy="1187679"/>
          </a:xfrm>
          <a:prstGeom prst="rect">
            <a:avLst/>
          </a:prstGeom>
        </p:spPr>
      </p:pic>
      <p:sp>
        <p:nvSpPr>
          <p:cNvPr id="29" name="Прямоугольник 28"/>
          <p:cNvSpPr/>
          <p:nvPr userDrawn="1"/>
        </p:nvSpPr>
        <p:spPr>
          <a:xfrm>
            <a:off x="744151" y="2559028"/>
            <a:ext cx="104721" cy="27079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 userDrawn="1"/>
        </p:nvSpPr>
        <p:spPr>
          <a:xfrm>
            <a:off x="7291318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 userDrawn="1"/>
        </p:nvSpPr>
        <p:spPr>
          <a:xfrm>
            <a:off x="7938800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 userDrawn="1"/>
        </p:nvSpPr>
        <p:spPr>
          <a:xfrm>
            <a:off x="7542112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 userDrawn="1"/>
        </p:nvSpPr>
        <p:spPr>
          <a:xfrm>
            <a:off x="8102086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 userDrawn="1"/>
        </p:nvSpPr>
        <p:spPr>
          <a:xfrm>
            <a:off x="8403521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 userDrawn="1"/>
        </p:nvSpPr>
        <p:spPr>
          <a:xfrm>
            <a:off x="7800295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 userDrawn="1"/>
        </p:nvSpPr>
        <p:spPr>
          <a:xfrm>
            <a:off x="7019030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 userDrawn="1"/>
        </p:nvSpPr>
        <p:spPr>
          <a:xfrm>
            <a:off x="7429825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/>
          <p:cNvSpPr/>
          <p:nvPr userDrawn="1"/>
        </p:nvSpPr>
        <p:spPr>
          <a:xfrm>
            <a:off x="8262844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7536527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4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27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9144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628650" y="1851661"/>
            <a:ext cx="7886700" cy="427450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511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524934"/>
            <a:ext cx="2738001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058521" y="1375305"/>
            <a:ext cx="3643313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4020423" y="3037418"/>
            <a:ext cx="5123578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841533" y="3037418"/>
            <a:ext cx="290496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570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926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303089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13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5"/>
            <a:ext cx="645795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5777349" y="1580886"/>
            <a:ext cx="2738001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628650" y="4847962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3028950" y="4847961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5429250" y="4842935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6171111" y="743935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4423459" y="287616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484094" y="4884739"/>
            <a:ext cx="144556" cy="1517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2889522" y="4884739"/>
            <a:ext cx="144556" cy="1517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5284694" y="4884739"/>
            <a:ext cx="144556" cy="1517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9733" y="2478089"/>
            <a:ext cx="3643313" cy="2852737"/>
          </a:xfrm>
        </p:spPr>
        <p:txBody>
          <a:bodyPr anchor="b"/>
          <a:lstStyle>
            <a:lvl1pPr>
              <a:lnSpc>
                <a:spcPct val="10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09733" y="5357814"/>
            <a:ext cx="3643313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6604000" y="0"/>
            <a:ext cx="2311400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4216401" y="0"/>
            <a:ext cx="2298700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919128" y="299372"/>
            <a:ext cx="542216" cy="56908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3461345" y="0"/>
            <a:ext cx="1001434" cy="105105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3070578" y="714494"/>
            <a:ext cx="781533" cy="82025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9018131" y="6191484"/>
            <a:ext cx="302203" cy="31717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514350" y="6288920"/>
            <a:ext cx="542216" cy="56908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628651" y="2248429"/>
            <a:ext cx="2901950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3949699" y="795868"/>
            <a:ext cx="4470401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3949699" y="2633134"/>
            <a:ext cx="4470401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3949699" y="4470400"/>
            <a:ext cx="4470401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3949304" y="795338"/>
            <a:ext cx="1562100" cy="1591733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3949304" y="2632604"/>
            <a:ext cx="15621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3949304" y="4470134"/>
            <a:ext cx="15621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5695950" y="1016190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5695950" y="2834741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5695950" y="4682144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237901" y="5793358"/>
            <a:ext cx="794657" cy="7956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105205" y="6426000"/>
            <a:ext cx="430259" cy="43200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3228847" y="4470134"/>
            <a:ext cx="446477" cy="4464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536943" y="4276486"/>
            <a:ext cx="276760" cy="2772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8669211" y="5399733"/>
            <a:ext cx="663241" cy="6624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183524" y="-244699"/>
            <a:ext cx="9504609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7209" y="2795195"/>
            <a:ext cx="4463143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28950" y="365126"/>
            <a:ext cx="54864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28950" y="1825625"/>
            <a:ext cx="54864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188687" y="0"/>
            <a:ext cx="2619828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3223" y="6176963"/>
            <a:ext cx="305159" cy="30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493846" y="6047468"/>
            <a:ext cx="185072" cy="18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313079" y="230190"/>
            <a:ext cx="390404" cy="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28950" y="365126"/>
            <a:ext cx="5486400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28950" y="1973944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188687" y="0"/>
            <a:ext cx="2619828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3028950" y="2554515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3028950" y="3534230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3028950" y="4114801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3028950" y="5116286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3028950" y="5696857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3223" y="6176963"/>
            <a:ext cx="305159" cy="30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493846" y="6047468"/>
            <a:ext cx="185072" cy="18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8313079" y="230190"/>
            <a:ext cx="390404" cy="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2177144"/>
            <a:ext cx="3694339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821012" y="2177144"/>
            <a:ext cx="3694339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971648" y="1937433"/>
            <a:ext cx="1008342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6125613" y="1882894"/>
            <a:ext cx="1085134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20861" y="2846730"/>
            <a:ext cx="3224390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20861" y="3670643"/>
            <a:ext cx="3224390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5011861" y="2846730"/>
            <a:ext cx="3224390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5011861" y="3670643"/>
            <a:ext cx="3224390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2177144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54854" y="2177144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281057" y="2177143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 sz="135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310368" y="1937433"/>
            <a:ext cx="870857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136571" y="1882894"/>
            <a:ext cx="870857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62775" y="1882894"/>
            <a:ext cx="870857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771355" y="2846730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771355" y="3670643"/>
            <a:ext cx="1950074" cy="290432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400"/>
            </a:lvl1pPr>
            <a:lvl2pPr marL="457200" indent="0">
              <a:lnSpc>
                <a:spcPct val="100000"/>
              </a:lnSpc>
              <a:buFont typeface="+mj-lt"/>
              <a:buNone/>
              <a:defRPr sz="1200"/>
            </a:lvl2pPr>
            <a:lvl3pPr marL="914400" indent="0">
              <a:lnSpc>
                <a:spcPct val="100000"/>
              </a:lnSpc>
              <a:buFont typeface="+mj-lt"/>
              <a:buNone/>
              <a:defRPr sz="1050"/>
            </a:lvl3pPr>
            <a:lvl4pPr marL="1371600" indent="0">
              <a:lnSpc>
                <a:spcPct val="100000"/>
              </a:lnSpc>
              <a:buFont typeface="+mj-lt"/>
              <a:buNone/>
              <a:defRPr sz="900"/>
            </a:lvl4pPr>
            <a:lvl5pPr marL="1828800" indent="0">
              <a:lnSpc>
                <a:spcPct val="100000"/>
              </a:lnSpc>
              <a:buFont typeface="+mj-lt"/>
              <a:buNone/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596198" y="2846730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596198" y="3670643"/>
            <a:ext cx="1950074" cy="290432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400"/>
            </a:lvl1pPr>
            <a:lvl2pPr marL="457200" indent="0">
              <a:lnSpc>
                <a:spcPct val="100000"/>
              </a:lnSpc>
              <a:buFont typeface="+mj-lt"/>
              <a:buNone/>
              <a:defRPr sz="1200"/>
            </a:lvl2pPr>
            <a:lvl3pPr marL="914400" indent="0">
              <a:lnSpc>
                <a:spcPct val="100000"/>
              </a:lnSpc>
              <a:buFont typeface="+mj-lt"/>
              <a:buNone/>
              <a:defRPr sz="1050"/>
            </a:lvl3pPr>
            <a:lvl4pPr marL="1371600" indent="0">
              <a:lnSpc>
                <a:spcPct val="100000"/>
              </a:lnSpc>
              <a:buFont typeface="+mj-lt"/>
              <a:buNone/>
              <a:defRPr sz="900"/>
            </a:lvl4pPr>
            <a:lvl5pPr marL="1828800" indent="0">
              <a:lnSpc>
                <a:spcPct val="100000"/>
              </a:lnSpc>
              <a:buFont typeface="+mj-lt"/>
              <a:buNone/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421041" y="2843667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421041" y="3667580"/>
            <a:ext cx="1950074" cy="290432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400"/>
            </a:lvl1pPr>
            <a:lvl2pPr marL="457200" indent="0">
              <a:lnSpc>
                <a:spcPct val="100000"/>
              </a:lnSpc>
              <a:buFont typeface="+mj-lt"/>
              <a:buNone/>
              <a:defRPr sz="1200"/>
            </a:lvl2pPr>
            <a:lvl3pPr marL="914400" indent="0">
              <a:lnSpc>
                <a:spcPct val="100000"/>
              </a:lnSpc>
              <a:buFont typeface="+mj-lt"/>
              <a:buNone/>
              <a:defRPr sz="1050"/>
            </a:lvl3pPr>
            <a:lvl4pPr marL="1371600" indent="0">
              <a:lnSpc>
                <a:spcPct val="100000"/>
              </a:lnSpc>
              <a:buFont typeface="+mj-lt"/>
              <a:buNone/>
              <a:defRPr sz="900"/>
            </a:lvl4pPr>
            <a:lvl5pPr marL="1828800" indent="0">
              <a:lnSpc>
                <a:spcPct val="100000"/>
              </a:lnSpc>
              <a:buFont typeface="+mj-lt"/>
              <a:buNone/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508907" y="2177144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2578213" y="2177144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4639410" y="2177143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03539" y="1937433"/>
            <a:ext cx="75218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172844" y="1882894"/>
            <a:ext cx="75218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5234041" y="1882894"/>
            <a:ext cx="75218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651613" y="2846730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51613" y="3670643"/>
            <a:ext cx="1684343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2719558" y="2846730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2719558" y="3670643"/>
            <a:ext cx="1684343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4779394" y="2843667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4779394" y="3667580"/>
            <a:ext cx="1684343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709227" y="2177143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7303858" y="1882894"/>
            <a:ext cx="75218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6849211" y="2843667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6849211" y="3667580"/>
            <a:ext cx="1684343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2177144"/>
            <a:ext cx="3694339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568553"/>
            <a:ext cx="78867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821012" y="2177144"/>
            <a:ext cx="3694339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20861" y="2360275"/>
            <a:ext cx="3224390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20861" y="3367320"/>
            <a:ext cx="3224390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5011861" y="2360275"/>
            <a:ext cx="3224390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5011861" y="3367320"/>
            <a:ext cx="3224390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2177144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565489"/>
            <a:ext cx="78867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54854" y="2177144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281057" y="2177143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771355" y="2180205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771355" y="3167178"/>
            <a:ext cx="1950074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596198" y="2180205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596198" y="3167178"/>
            <a:ext cx="1950074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421041" y="2177142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421041" y="3164115"/>
            <a:ext cx="1950074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508907" y="2177144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565489"/>
            <a:ext cx="78867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2578213" y="2177144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4639410" y="2177143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651613" y="2287134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51613" y="3217976"/>
            <a:ext cx="1684343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2719558" y="2287134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2719558" y="3217976"/>
            <a:ext cx="1684343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4779394" y="2284071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4779394" y="3214913"/>
            <a:ext cx="1684343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709227" y="2177143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6849211" y="2284071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6849211" y="3214913"/>
            <a:ext cx="1684343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524934"/>
            <a:ext cx="2738001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4020423" y="3037418"/>
            <a:ext cx="5123578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841533" y="3037418"/>
            <a:ext cx="290496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4020422" y="1"/>
            <a:ext cx="5123578" cy="2699657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46482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4975963" y="992188"/>
            <a:ext cx="3743495" cy="4873625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445636" y="696686"/>
            <a:ext cx="3680390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898635" y="684668"/>
            <a:ext cx="390404" cy="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598630" y="375784"/>
            <a:ext cx="220727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7607383" y="6173333"/>
            <a:ext cx="220727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704851" y="1891052"/>
            <a:ext cx="1959428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565489"/>
            <a:ext cx="7807437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935832" y="2195850"/>
            <a:ext cx="1959769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475264" y="1891052"/>
            <a:ext cx="1959428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3706245" y="2195850"/>
            <a:ext cx="1959769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6245338" y="1929037"/>
            <a:ext cx="1959428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6476319" y="2233835"/>
            <a:ext cx="1959769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6556" y="2548392"/>
            <a:ext cx="2405742" cy="16002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3037115" y="-4764"/>
            <a:ext cx="6106886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3037116" y="4281488"/>
            <a:ext cx="6106885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42413" y="457201"/>
            <a:ext cx="5531473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230251" y="2705712"/>
            <a:ext cx="220727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084457" y="3246725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385892" y="2724456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7034824" y="375693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3037115" y="-4764"/>
            <a:ext cx="6106886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3599059" y="1016000"/>
            <a:ext cx="4982998" cy="480979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3682518" y="1149010"/>
            <a:ext cx="4816079" cy="4596952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466556" y="3478675"/>
            <a:ext cx="2405742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350"/>
            </a:lvl1pPr>
            <a:lvl2pPr marL="342900" indent="0">
              <a:buNone/>
              <a:defRPr sz="1200"/>
            </a:lvl2pPr>
            <a:lvl3pPr marL="685800" indent="0">
              <a:buNone/>
              <a:defRPr sz="1050"/>
            </a:lvl3pPr>
            <a:lvl4pPr marL="1028700" indent="0">
              <a:buNone/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466556" y="2548392"/>
            <a:ext cx="2405742" cy="16002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230251" y="2705712"/>
            <a:ext cx="220727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8084458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8385893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7034825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750" y="840014"/>
            <a:ext cx="4841736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7979229" y="5545139"/>
            <a:ext cx="1164771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731750" y="2278743"/>
            <a:ext cx="758252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1" y="5545138"/>
            <a:ext cx="7956947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524934"/>
            <a:ext cx="2738001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003257" y="2993875"/>
            <a:ext cx="2713581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5"/>
            <a:ext cx="1003257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3716838" y="2993875"/>
            <a:ext cx="2713581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6430419" y="2993875"/>
            <a:ext cx="2713581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331348" y="532693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4044929" y="532693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6758510" y="532693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7429590" y="718316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8043919" y="1311095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68423" y="5713697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54636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63610" y="1"/>
            <a:ext cx="3680390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5463610" y="2946402"/>
            <a:ext cx="3680390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5463610" y="5399314"/>
            <a:ext cx="3680390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447505" y="2061030"/>
            <a:ext cx="4559923" cy="4285797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560010"/>
            <a:ext cx="416402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 rot="5400000">
            <a:off x="26248" y="5772211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 rot="5400000">
            <a:off x="869188" y="605769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 rot="5400000">
            <a:off x="458118" y="4909129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8186057" y="0"/>
            <a:ext cx="95794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164116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393372" y="4038337"/>
            <a:ext cx="489857" cy="48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609599" y="4775000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3761014" y="4038337"/>
            <a:ext cx="489857" cy="48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2977241" y="4775000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6128656" y="4038337"/>
            <a:ext cx="489857" cy="48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5344883" y="4775000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8050" y="2815771"/>
            <a:ext cx="1406171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6" y="944011"/>
            <a:ext cx="3689067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4341610" y="0"/>
            <a:ext cx="42998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4572001" y="560009"/>
            <a:ext cx="3762615" cy="5782734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427985" y="2815771"/>
            <a:ext cx="1490102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2926763" y="2815771"/>
            <a:ext cx="1406171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4060372" y="1"/>
            <a:ext cx="5083628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080657" y="1156203"/>
            <a:ext cx="2612572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6092166" y="1156203"/>
            <a:ext cx="2612572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3080657" y="3776031"/>
            <a:ext cx="2612572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6092166" y="3776031"/>
            <a:ext cx="2612572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473284" y="2039935"/>
            <a:ext cx="2738001" cy="205157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300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560010"/>
            <a:ext cx="8163095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834191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82834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" name="Группа 1"/>
          <p:cNvGrpSpPr/>
          <p:nvPr userDrawn="1"/>
        </p:nvGrpSpPr>
        <p:grpSpPr>
          <a:xfrm>
            <a:off x="923358" y="2625079"/>
            <a:ext cx="7297285" cy="1800000"/>
            <a:chOff x="1020860" y="460581"/>
            <a:chExt cx="7297285" cy="1800000"/>
          </a:xfrm>
        </p:grpSpPr>
        <p:sp>
          <p:nvSpPr>
            <p:cNvPr id="11" name="Прямоугольник 10"/>
            <p:cNvSpPr/>
            <p:nvPr userDrawn="1"/>
          </p:nvSpPr>
          <p:spPr>
            <a:xfrm>
              <a:off x="1020860" y="460581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5" name="Прямоугольник 14"/>
            <p:cNvSpPr/>
            <p:nvPr userDrawn="1"/>
          </p:nvSpPr>
          <p:spPr>
            <a:xfrm>
              <a:off x="3769503" y="460581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22" name="Прямоугольник 21"/>
            <p:cNvSpPr/>
            <p:nvPr userDrawn="1"/>
          </p:nvSpPr>
          <p:spPr>
            <a:xfrm>
              <a:off x="6518145" y="460581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6331477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 rot="5400000">
            <a:off x="26247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 userDrawn="1"/>
        </p:nvSpPr>
        <p:spPr>
          <a:xfrm rot="5400000">
            <a:off x="869187" y="586900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 userDrawn="1"/>
        </p:nvSpPr>
        <p:spPr>
          <a:xfrm rot="5400000">
            <a:off x="124862" y="447354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 rot="5400000">
            <a:off x="7689111" y="-225627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 userDrawn="1"/>
        </p:nvSpPr>
        <p:spPr>
          <a:xfrm rot="5400000">
            <a:off x="8556110" y="55911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923358" y="2625080"/>
            <a:ext cx="1799199" cy="18000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3671199" y="2627842"/>
            <a:ext cx="1800802" cy="179723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6420643" y="2625079"/>
            <a:ext cx="1800000" cy="1800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2" name="Заголовок 1"/>
          <p:cNvSpPr>
            <a:spLocks noGrp="1"/>
          </p:cNvSpPr>
          <p:nvPr>
            <p:ph type="title"/>
          </p:nvPr>
        </p:nvSpPr>
        <p:spPr>
          <a:xfrm>
            <a:off x="447505" y="560010"/>
            <a:ext cx="8163095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idx="1"/>
          </p:nvPr>
        </p:nvSpPr>
        <p:spPr>
          <a:xfrm>
            <a:off x="834191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Текст 2"/>
          <p:cNvSpPr>
            <a:spLocks noGrp="1"/>
          </p:cNvSpPr>
          <p:nvPr>
            <p:ph type="body" idx="10"/>
          </p:nvPr>
        </p:nvSpPr>
        <p:spPr>
          <a:xfrm>
            <a:off x="3582834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2"/>
          <p:cNvSpPr>
            <a:spLocks noGrp="1"/>
          </p:cNvSpPr>
          <p:nvPr>
            <p:ph type="body" idx="11"/>
          </p:nvPr>
        </p:nvSpPr>
        <p:spPr>
          <a:xfrm>
            <a:off x="6331477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Прямоугольник 33"/>
          <p:cNvSpPr/>
          <p:nvPr userDrawn="1"/>
        </p:nvSpPr>
        <p:spPr>
          <a:xfrm rot="5400000">
            <a:off x="26247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 userDrawn="1"/>
        </p:nvSpPr>
        <p:spPr>
          <a:xfrm rot="5400000">
            <a:off x="869187" y="586900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 userDrawn="1"/>
        </p:nvSpPr>
        <p:spPr>
          <a:xfrm rot="5400000">
            <a:off x="124862" y="447354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 userDrawn="1"/>
        </p:nvSpPr>
        <p:spPr>
          <a:xfrm rot="5400000">
            <a:off x="7689111" y="-225627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/>
          <p:cNvSpPr/>
          <p:nvPr userDrawn="1"/>
        </p:nvSpPr>
        <p:spPr>
          <a:xfrm rot="5400000">
            <a:off x="8556110" y="55911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6403164" y="2648189"/>
            <a:ext cx="1800000" cy="1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3668808" y="2648189"/>
            <a:ext cx="1800000" cy="1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03242" y="2633674"/>
            <a:ext cx="1800000" cy="1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734182"/>
            <a:ext cx="8163095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834191" y="481878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82834" y="481878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6331477" y="481878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995504" y="2784298"/>
            <a:ext cx="1800000" cy="18000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3744147" y="2784298"/>
            <a:ext cx="1800000" cy="1800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6492790" y="2784298"/>
            <a:ext cx="1800000" cy="18000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1"/>
            <a:ext cx="4582886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3822" y="1931068"/>
            <a:ext cx="3875241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82885" y="1"/>
            <a:ext cx="4561115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601"/>
            <a:ext cx="4582886" cy="3384400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4582885" y="3473601"/>
            <a:ext cx="4582886" cy="338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353822" y="998613"/>
            <a:ext cx="3875241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495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4936708" y="5371590"/>
            <a:ext cx="3875241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4936708" y="4439135"/>
            <a:ext cx="3875241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495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746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57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4" r:id="rId2"/>
    <p:sldLayoutId id="2147483696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95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000" b="1" dirty="0"/>
              <a:t>Индивидуальный </a:t>
            </a:r>
            <a:r>
              <a:rPr lang="ru-RU" sz="3000" b="1" dirty="0" err="1"/>
              <a:t>проект"Система</a:t>
            </a:r>
            <a:r>
              <a:rPr lang="ru-RU" sz="3000" b="1" dirty="0"/>
              <a:t> управления вакансиями"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Злобина Дарья Сергеевна, ИТ-7, 8 вариант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9CA7A8-0B0A-B5E0-F980-668BB2F2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B2A74A-3D48-AD4A-82F4-46F6717D0E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/>
            <a:r>
              <a:rPr lang="ru-RU" sz="2000" dirty="0"/>
              <a:t>Создать структуру для записи информации о вакансиях, включающую: должность, необходимый стаж, пол, образование, минимальный и максимальный возраст, знание языков, минимальный оклад, наличие соцпакета и испытательный срок. </a:t>
            </a:r>
            <a:r>
              <a:rPr lang="en-US" sz="2000" err="1">
                <a:ea typeface="+mn-lt"/>
                <a:cs typeface="+mn-lt"/>
              </a:rPr>
              <a:t>Программа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должна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предоставлять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возможность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добавлять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удалять</a:t>
            </a:r>
            <a:r>
              <a:rPr lang="en-US" sz="2000" dirty="0">
                <a:ea typeface="+mn-lt"/>
                <a:cs typeface="+mn-lt"/>
              </a:rPr>
              <a:t> и </a:t>
            </a:r>
            <a:r>
              <a:rPr lang="en-US" sz="2000" err="1">
                <a:ea typeface="+mn-lt"/>
                <a:cs typeface="+mn-lt"/>
              </a:rPr>
              <a:t>изменять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записи</a:t>
            </a:r>
            <a:r>
              <a:rPr lang="en-US" sz="2000" dirty="0">
                <a:ea typeface="+mn-lt"/>
                <a:cs typeface="+mn-lt"/>
              </a:rPr>
              <a:t> о </a:t>
            </a:r>
            <a:r>
              <a:rPr lang="en-US" sz="2000" err="1">
                <a:ea typeface="+mn-lt"/>
                <a:cs typeface="+mn-lt"/>
              </a:rPr>
              <a:t>вакансиях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ru-RU" sz="2000" dirty="0"/>
          </a:p>
          <a:p>
            <a:pPr marL="285750" indent="-285750"/>
            <a:r>
              <a:rPr lang="ru-RU" sz="2000" dirty="0"/>
              <a:t>Сгенерировать программой три отчёта с помощью сортировки Хоара:</a:t>
            </a:r>
          </a:p>
          <a:p>
            <a:pPr marL="0" indent="0">
              <a:buNone/>
            </a:pPr>
            <a:r>
              <a:rPr lang="ru-RU" sz="2000" dirty="0"/>
              <a:t>       Отчёт 1: Полный список вакансий, отсортированный по образованию и должности.</a:t>
            </a:r>
          </a:p>
          <a:p>
            <a:pPr marL="0" indent="0">
              <a:buNone/>
            </a:pPr>
            <a:r>
              <a:rPr lang="ru-RU" sz="2000" dirty="0"/>
              <a:t>       Отчёт 2: Вакансии с испытательным сроком не менее 2 месяцев, отсортированные по сроку, стажу и возрасту.</a:t>
            </a:r>
          </a:p>
          <a:p>
            <a:pPr marL="0" indent="0">
              <a:buNone/>
            </a:pPr>
            <a:r>
              <a:rPr lang="ru-RU" sz="2000" dirty="0"/>
              <a:t>       Отчёт 3: Вакансии в заданном диапазоне окладов, отсортированные по наличию соцпакета и испытательному сроку.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331958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01E90-28B8-7E5B-4C49-C47CAB40C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43801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Алгоритм решения: общая программа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633FD5-AC1B-A9AE-5295-B90BA240FD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F493F1E-26CF-DA3E-7A6D-30A4A16B03A6}"/>
              </a:ext>
            </a:extLst>
          </p:cNvPr>
          <p:cNvSpPr/>
          <p:nvPr/>
        </p:nvSpPr>
        <p:spPr>
          <a:xfrm>
            <a:off x="2760170" y="1957552"/>
            <a:ext cx="2850329" cy="4077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main.py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FBD7195A-7995-174A-CF58-DBF0BB43FA58}"/>
              </a:ext>
            </a:extLst>
          </p:cNvPr>
          <p:cNvCxnSpPr/>
          <p:nvPr/>
        </p:nvCxnSpPr>
        <p:spPr>
          <a:xfrm flipH="1">
            <a:off x="1824605" y="2181137"/>
            <a:ext cx="936770" cy="643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4815E1E-6D42-C4A3-3C72-A02CD8352DC9}"/>
              </a:ext>
            </a:extLst>
          </p:cNvPr>
          <p:cNvSpPr/>
          <p:nvPr/>
        </p:nvSpPr>
        <p:spPr>
          <a:xfrm>
            <a:off x="629176" y="2852255"/>
            <a:ext cx="2474750" cy="27823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dirty="0" err="1"/>
              <a:t>Иниализация</a:t>
            </a:r>
            <a:r>
              <a:rPr lang="ru-RU" dirty="0"/>
              <a:t> программы</a:t>
            </a:r>
          </a:p>
          <a:p>
            <a:pPr marL="285750" indent="-285750" algn="ctr">
              <a:buFont typeface="Arial"/>
              <a:buChar char="•"/>
            </a:pPr>
            <a:r>
              <a:rPr lang="ru-RU" dirty="0"/>
              <a:t>Загрузка данных из файла</a:t>
            </a:r>
          </a:p>
          <a:p>
            <a:pPr marL="285750" indent="-285750" algn="ctr">
              <a:buFont typeface="Arial"/>
              <a:buChar char="•"/>
            </a:pPr>
            <a:r>
              <a:rPr lang="ru-RU" dirty="0"/>
              <a:t>Проверка ошибок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5B5B6D5-197A-5644-53A0-CFC1EBDF9D17}"/>
              </a:ext>
            </a:extLst>
          </p:cNvPr>
          <p:cNvCxnSpPr/>
          <p:nvPr/>
        </p:nvCxnSpPr>
        <p:spPr>
          <a:xfrm>
            <a:off x="5590972" y="2166310"/>
            <a:ext cx="728733" cy="181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40BA95A-C2AF-3FCF-FB02-AD434A38F04F}"/>
              </a:ext>
            </a:extLst>
          </p:cNvPr>
          <p:cNvSpPr/>
          <p:nvPr/>
        </p:nvSpPr>
        <p:spPr>
          <a:xfrm>
            <a:off x="6319706" y="1936458"/>
            <a:ext cx="2628549" cy="41525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Главное меню</a:t>
            </a:r>
          </a:p>
          <a:p>
            <a:pPr marL="285750" indent="-285750" algn="ctr">
              <a:buFont typeface="Arial"/>
              <a:buChar char="•"/>
            </a:pPr>
            <a:r>
              <a:rPr lang="ru-RU" dirty="0"/>
              <a:t>Показать список</a:t>
            </a:r>
          </a:p>
          <a:p>
            <a:pPr marL="285750" indent="-285750" algn="ctr">
              <a:buFont typeface="Arial"/>
              <a:buChar char="•"/>
            </a:pPr>
            <a:r>
              <a:rPr lang="ru-RU" dirty="0"/>
              <a:t>Добавить</a:t>
            </a:r>
          </a:p>
          <a:p>
            <a:pPr marL="285750" indent="-285750" algn="ctr">
              <a:buFont typeface="Arial"/>
              <a:buChar char="•"/>
            </a:pPr>
            <a:r>
              <a:rPr lang="ru-RU" dirty="0"/>
              <a:t>Изменить</a:t>
            </a:r>
          </a:p>
          <a:p>
            <a:pPr marL="285750" indent="-285750" algn="ctr">
              <a:buFont typeface="Arial"/>
              <a:buChar char="•"/>
            </a:pPr>
            <a:r>
              <a:rPr lang="ru-RU" dirty="0"/>
              <a:t>Удалить </a:t>
            </a:r>
          </a:p>
          <a:p>
            <a:pPr marL="285750" indent="-285750" algn="ctr">
              <a:buFont typeface="Arial"/>
              <a:buChar char="•"/>
            </a:pPr>
            <a:r>
              <a:rPr lang="ru-RU" dirty="0"/>
              <a:t>Сформировать отчёты (1-3)</a:t>
            </a:r>
          </a:p>
          <a:p>
            <a:pPr marL="285750" indent="-285750" algn="ctr">
              <a:buFont typeface="Arial"/>
              <a:buChar char="•"/>
            </a:pPr>
            <a:r>
              <a:rPr lang="ru-RU" dirty="0"/>
              <a:t>Сохранить базу</a:t>
            </a:r>
          </a:p>
          <a:p>
            <a:pPr marL="285750" indent="-285750" algn="ctr">
              <a:buFont typeface="Arial"/>
              <a:buChar char="•"/>
            </a:pPr>
            <a:r>
              <a:rPr lang="ru-RU" dirty="0"/>
              <a:t>Выход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5ACC77B-D512-4BEA-7E75-43D300CB2FB7}"/>
              </a:ext>
            </a:extLst>
          </p:cNvPr>
          <p:cNvCxnSpPr/>
          <p:nvPr/>
        </p:nvCxnSpPr>
        <p:spPr>
          <a:xfrm flipH="1">
            <a:off x="5145246" y="2852255"/>
            <a:ext cx="1132514" cy="6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A6C6188B-5418-408B-3DC9-41BC49652AFA}"/>
              </a:ext>
            </a:extLst>
          </p:cNvPr>
          <p:cNvCxnSpPr/>
          <p:nvPr/>
        </p:nvCxnSpPr>
        <p:spPr>
          <a:xfrm flipH="1" flipV="1">
            <a:off x="5103302" y="4047687"/>
            <a:ext cx="1300294" cy="13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0E275BF9-CDEA-DBA6-2F1C-BDABD728C12B}"/>
              </a:ext>
            </a:extLst>
          </p:cNvPr>
          <p:cNvCxnSpPr/>
          <p:nvPr/>
        </p:nvCxnSpPr>
        <p:spPr>
          <a:xfrm flipH="1" flipV="1">
            <a:off x="5141210" y="5032369"/>
            <a:ext cx="1198625" cy="52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CFA41C4-54AA-F270-44EC-6D893B3D5E2D}"/>
              </a:ext>
            </a:extLst>
          </p:cNvPr>
          <p:cNvSpPr/>
          <p:nvPr/>
        </p:nvSpPr>
        <p:spPr>
          <a:xfrm>
            <a:off x="3579303" y="2560510"/>
            <a:ext cx="1565944" cy="587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Операции с вакансиями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22D84E0-F08E-443F-429A-030416CF1D8E}"/>
              </a:ext>
            </a:extLst>
          </p:cNvPr>
          <p:cNvSpPr/>
          <p:nvPr/>
        </p:nvSpPr>
        <p:spPr>
          <a:xfrm>
            <a:off x="3633541" y="3688142"/>
            <a:ext cx="1468073" cy="6571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Отчеты (3 типа)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01E036B-B9C8-C1DE-8DAA-53FBE1C4B20A}"/>
              </a:ext>
            </a:extLst>
          </p:cNvPr>
          <p:cNvSpPr/>
          <p:nvPr/>
        </p:nvSpPr>
        <p:spPr>
          <a:xfrm>
            <a:off x="3588402" y="4725316"/>
            <a:ext cx="1551963" cy="685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Работа с файлами</a:t>
            </a:r>
          </a:p>
        </p:txBody>
      </p:sp>
    </p:spTree>
    <p:extLst>
      <p:ext uri="{BB962C8B-B14F-4D97-AF65-F5344CB8AC3E}">
        <p14:creationId xmlns:p14="http://schemas.microsoft.com/office/powerpoint/2010/main" val="3975173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E1788-C845-404E-DCA5-0013B4470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531B5-DE0A-1628-92E7-4F3D9F1813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3453" y="182985"/>
            <a:ext cx="9142032" cy="457142"/>
          </a:xfrm>
        </p:spPr>
        <p:txBody>
          <a:bodyPr>
            <a:normAutofit fontScale="90000"/>
          </a:bodyPr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4DFA1BF-87E5-36B6-80F2-A74CE60C7507}"/>
              </a:ext>
            </a:extLst>
          </p:cNvPr>
          <p:cNvSpPr/>
          <p:nvPr/>
        </p:nvSpPr>
        <p:spPr>
          <a:xfrm>
            <a:off x="2418825" y="782972"/>
            <a:ext cx="4725798" cy="4334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def</a:t>
            </a:r>
            <a:r>
              <a:rPr lang="ru-RU" dirty="0"/>
              <a:t> </a:t>
            </a:r>
            <a:r>
              <a:rPr lang="ru-RU" dirty="0" err="1"/>
              <a:t>quick_sort</a:t>
            </a:r>
            <a:r>
              <a:rPr lang="ru-RU" dirty="0"/>
              <a:t>(</a:t>
            </a:r>
            <a:r>
              <a:rPr lang="ru-RU" dirty="0" err="1"/>
              <a:t>arr</a:t>
            </a:r>
            <a:r>
              <a:rPr lang="ru-RU" dirty="0"/>
              <a:t>, </a:t>
            </a:r>
            <a:r>
              <a:rPr lang="ru-RU" dirty="0" err="1"/>
              <a:t>key_func</a:t>
            </a:r>
            <a:r>
              <a:rPr lang="ru-RU" dirty="0"/>
              <a:t>) 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DCFF448-710E-6A92-9442-3663DD2DE148}"/>
              </a:ext>
            </a:extLst>
          </p:cNvPr>
          <p:cNvCxnSpPr/>
          <p:nvPr/>
        </p:nvCxnSpPr>
        <p:spPr>
          <a:xfrm>
            <a:off x="4669871" y="1188440"/>
            <a:ext cx="13981" cy="335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BFC7212-E7DA-073D-841A-DAA88E0B55D2}"/>
              </a:ext>
            </a:extLst>
          </p:cNvPr>
          <p:cNvSpPr/>
          <p:nvPr/>
        </p:nvSpPr>
        <p:spPr>
          <a:xfrm>
            <a:off x="3565321" y="1524000"/>
            <a:ext cx="2306972" cy="3914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Arr.length</a:t>
            </a:r>
            <a:r>
              <a:rPr lang="ru-RU" dirty="0"/>
              <a:t> &lt;= 1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B2A00D4-A402-53C1-36CF-D400C07D5147}"/>
              </a:ext>
            </a:extLst>
          </p:cNvPr>
          <p:cNvCxnSpPr/>
          <p:nvPr/>
        </p:nvCxnSpPr>
        <p:spPr>
          <a:xfrm>
            <a:off x="5886274" y="1677797"/>
            <a:ext cx="601211" cy="13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022B003-9F1D-21C9-DC43-EE0C309CEB18}"/>
              </a:ext>
            </a:extLst>
          </p:cNvPr>
          <p:cNvSpPr/>
          <p:nvPr/>
        </p:nvSpPr>
        <p:spPr>
          <a:xfrm>
            <a:off x="6557394" y="1551963"/>
            <a:ext cx="643155" cy="3914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да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A1FDE9B-748F-5B73-8C3B-5C4BEB9E4955}"/>
              </a:ext>
            </a:extLst>
          </p:cNvPr>
          <p:cNvCxnSpPr/>
          <p:nvPr/>
        </p:nvCxnSpPr>
        <p:spPr>
          <a:xfrm>
            <a:off x="7214531" y="1719742"/>
            <a:ext cx="573247" cy="13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646CC9C-E675-4525-AD27-EE143DA4ED9A}"/>
              </a:ext>
            </a:extLst>
          </p:cNvPr>
          <p:cNvSpPr/>
          <p:nvPr/>
        </p:nvSpPr>
        <p:spPr>
          <a:xfrm>
            <a:off x="7822734" y="1524001"/>
            <a:ext cx="1314274" cy="4474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return</a:t>
            </a:r>
            <a:r>
              <a:rPr lang="ru-RU" dirty="0"/>
              <a:t> </a:t>
            </a:r>
            <a:r>
              <a:rPr lang="ru-RU" dirty="0" err="1"/>
              <a:t>arr</a:t>
            </a:r>
            <a:endParaRPr lang="ru-RU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00684E9E-43EF-74C0-0562-3891178C2D8B}"/>
              </a:ext>
            </a:extLst>
          </p:cNvPr>
          <p:cNvCxnSpPr/>
          <p:nvPr/>
        </p:nvCxnSpPr>
        <p:spPr>
          <a:xfrm flipH="1" flipV="1">
            <a:off x="2348914" y="1698770"/>
            <a:ext cx="1167470" cy="2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933AE74-908C-24C3-FD27-F401C6CA09C4}"/>
              </a:ext>
            </a:extLst>
          </p:cNvPr>
          <p:cNvSpPr/>
          <p:nvPr/>
        </p:nvSpPr>
        <p:spPr>
          <a:xfrm>
            <a:off x="971724" y="1523999"/>
            <a:ext cx="1314275" cy="3984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нет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2B58CCFE-5C79-8A10-6EDB-4CCC57E63CBB}"/>
              </a:ext>
            </a:extLst>
          </p:cNvPr>
          <p:cNvSpPr/>
          <p:nvPr/>
        </p:nvSpPr>
        <p:spPr>
          <a:xfrm>
            <a:off x="4040697" y="2188128"/>
            <a:ext cx="4893577" cy="894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Выбор опорного элемента:</a:t>
            </a:r>
          </a:p>
          <a:p>
            <a:pPr algn="ctr"/>
            <a:r>
              <a:rPr lang="ru-RU" dirty="0" err="1"/>
              <a:t>pivot</a:t>
            </a:r>
            <a:r>
              <a:rPr lang="ru-RU" dirty="0"/>
              <a:t> = </a:t>
            </a:r>
            <a:r>
              <a:rPr lang="ru-RU" dirty="0" err="1"/>
              <a:t>arr</a:t>
            </a:r>
            <a:r>
              <a:rPr lang="ru-RU" dirty="0"/>
              <a:t>[</a:t>
            </a:r>
            <a:r>
              <a:rPr lang="ru-RU" dirty="0" err="1"/>
              <a:t>arr.length</a:t>
            </a:r>
            <a:r>
              <a:rPr lang="ru-RU" dirty="0"/>
              <a:t> // 2]</a:t>
            </a:r>
          </a:p>
          <a:p>
            <a:pPr algn="ctr"/>
            <a:r>
              <a:rPr lang="ru-RU" dirty="0" err="1"/>
              <a:t>pvot_key</a:t>
            </a:r>
            <a:r>
              <a:rPr lang="ru-RU" dirty="0"/>
              <a:t> = </a:t>
            </a:r>
            <a:r>
              <a:rPr lang="ru-RU" dirty="0" err="1"/>
              <a:t>key_func</a:t>
            </a:r>
            <a:r>
              <a:rPr lang="ru-RU" dirty="0"/>
              <a:t>(</a:t>
            </a:r>
            <a:r>
              <a:rPr lang="ru-RU" dirty="0" err="1"/>
              <a:t>pivot</a:t>
            </a:r>
            <a:r>
              <a:rPr lang="ru-RU" dirty="0"/>
              <a:t>)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C7200090-3996-0EC4-BE95-068061719CC1}"/>
              </a:ext>
            </a:extLst>
          </p:cNvPr>
          <p:cNvCxnSpPr/>
          <p:nvPr/>
        </p:nvCxnSpPr>
        <p:spPr>
          <a:xfrm flipH="1">
            <a:off x="3215779" y="2894201"/>
            <a:ext cx="1349230" cy="391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7B42D398-D76D-2AC6-33E7-151BE9546F58}"/>
              </a:ext>
            </a:extLst>
          </p:cNvPr>
          <p:cNvCxnSpPr>
            <a:cxnSpLocks/>
          </p:cNvCxnSpPr>
          <p:nvPr/>
        </p:nvCxnSpPr>
        <p:spPr>
          <a:xfrm flipH="1">
            <a:off x="5480806" y="2880220"/>
            <a:ext cx="20972" cy="412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2BB7A23E-5ADE-BC24-B606-85382AC26AE2}"/>
              </a:ext>
            </a:extLst>
          </p:cNvPr>
          <p:cNvCxnSpPr>
            <a:cxnSpLocks/>
          </p:cNvCxnSpPr>
          <p:nvPr/>
        </p:nvCxnSpPr>
        <p:spPr>
          <a:xfrm>
            <a:off x="7759816" y="2908183"/>
            <a:ext cx="27962" cy="384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15680A9-848C-1602-1D95-1FFEA07B565D}"/>
              </a:ext>
            </a:extLst>
          </p:cNvPr>
          <p:cNvSpPr/>
          <p:nvPr/>
        </p:nvSpPr>
        <p:spPr>
          <a:xfrm>
            <a:off x="2348917" y="3271706"/>
            <a:ext cx="1482055" cy="6012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Элементы &lt; </a:t>
            </a:r>
            <a:r>
              <a:rPr lang="ru-RU" dirty="0" err="1"/>
              <a:t>pivot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7862402-DD2A-BC05-1BD3-5F901FE5023C}"/>
              </a:ext>
            </a:extLst>
          </p:cNvPr>
          <p:cNvSpPr/>
          <p:nvPr/>
        </p:nvSpPr>
        <p:spPr>
          <a:xfrm>
            <a:off x="4781724" y="3320642"/>
            <a:ext cx="1510018" cy="580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Элементы = </a:t>
            </a:r>
            <a:r>
              <a:rPr lang="ru-RU" dirty="0" err="1"/>
              <a:t>pivot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12708B3C-4582-7B29-14C4-F06ADCE9A043}"/>
              </a:ext>
            </a:extLst>
          </p:cNvPr>
          <p:cNvSpPr/>
          <p:nvPr/>
        </p:nvSpPr>
        <p:spPr>
          <a:xfrm>
            <a:off x="7102678" y="3285687"/>
            <a:ext cx="1440112" cy="5732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ea typeface="+mn-lt"/>
                <a:cs typeface="+mn-lt"/>
              </a:rPr>
              <a:t>Элементы &gt; </a:t>
            </a:r>
            <a:r>
              <a:rPr lang="ru-RU" dirty="0" err="1">
                <a:ea typeface="+mn-lt"/>
                <a:cs typeface="+mn-lt"/>
              </a:rPr>
              <a:t>pivot</a:t>
            </a:r>
            <a:endParaRPr lang="ru-RU" dirty="0" err="1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DB19BBE-FA0B-BDE2-AF7F-5942573A0D0D}"/>
              </a:ext>
            </a:extLst>
          </p:cNvPr>
          <p:cNvSpPr/>
          <p:nvPr/>
        </p:nvSpPr>
        <p:spPr>
          <a:xfrm>
            <a:off x="3830971" y="6109980"/>
            <a:ext cx="3635229" cy="5732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 </a:t>
            </a:r>
            <a:r>
              <a:rPr lang="ru-RU" dirty="0" err="1"/>
              <a:t>return</a:t>
            </a:r>
            <a:r>
              <a:rPr lang="ru-RU" dirty="0"/>
              <a:t> </a:t>
            </a:r>
            <a:r>
              <a:rPr lang="ru-RU" dirty="0" err="1"/>
              <a:t>left</a:t>
            </a:r>
            <a:r>
              <a:rPr lang="ru-RU" dirty="0"/>
              <a:t> + </a:t>
            </a:r>
            <a:r>
              <a:rPr lang="ru-RU" dirty="0" err="1"/>
              <a:t>right</a:t>
            </a:r>
            <a:r>
              <a:rPr lang="ru-RU" dirty="0"/>
              <a:t> + </a:t>
            </a:r>
            <a:r>
              <a:rPr lang="ru-RU" dirty="0" err="1"/>
              <a:t>middle</a:t>
            </a:r>
            <a:endParaRPr lang="ru-RU" dirty="0"/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786A91AE-C309-99F7-005F-5B735752BB7A}"/>
              </a:ext>
            </a:extLst>
          </p:cNvPr>
          <p:cNvCxnSpPr>
            <a:cxnSpLocks/>
          </p:cNvCxnSpPr>
          <p:nvPr/>
        </p:nvCxnSpPr>
        <p:spPr>
          <a:xfrm flipH="1" flipV="1">
            <a:off x="1621872" y="1915485"/>
            <a:ext cx="27963" cy="552277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CB800407-7C85-534F-2F55-97B8CB77841B}"/>
              </a:ext>
            </a:extLst>
          </p:cNvPr>
          <p:cNvCxnSpPr>
            <a:cxnSpLocks/>
          </p:cNvCxnSpPr>
          <p:nvPr/>
        </p:nvCxnSpPr>
        <p:spPr>
          <a:xfrm flipV="1">
            <a:off x="1677796" y="2474752"/>
            <a:ext cx="2341927" cy="13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3F7ACA99-1FB9-6811-99C9-FF1E810FCD84}"/>
              </a:ext>
            </a:extLst>
          </p:cNvPr>
          <p:cNvCxnSpPr>
            <a:cxnSpLocks/>
          </p:cNvCxnSpPr>
          <p:nvPr/>
        </p:nvCxnSpPr>
        <p:spPr>
          <a:xfrm flipH="1">
            <a:off x="3020032" y="3593286"/>
            <a:ext cx="48937" cy="706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4272F03-9B3B-70D9-D275-81502FF44F7D}"/>
              </a:ext>
            </a:extLst>
          </p:cNvPr>
          <p:cNvSpPr/>
          <p:nvPr/>
        </p:nvSpPr>
        <p:spPr>
          <a:xfrm>
            <a:off x="2041320" y="4313340"/>
            <a:ext cx="1845577" cy="60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 err="1"/>
              <a:t>Quick_sort</a:t>
            </a:r>
            <a:r>
              <a:rPr lang="ru-RU" dirty="0"/>
              <a:t>(</a:t>
            </a:r>
            <a:r>
              <a:rPr lang="ru-RU" dirty="0" err="1"/>
              <a:t>left</a:t>
            </a:r>
            <a:r>
              <a:rPr lang="ru-RU" dirty="0"/>
              <a:t>, </a:t>
            </a:r>
            <a:r>
              <a:rPr lang="ru-RU" dirty="0" err="1"/>
              <a:t>key-func</a:t>
            </a:r>
            <a:r>
              <a:rPr lang="ru-RU" dirty="0"/>
              <a:t>)</a:t>
            </a: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C86C4A59-338A-49E9-EECA-00335B23D9DD}"/>
              </a:ext>
            </a:extLst>
          </p:cNvPr>
          <p:cNvCxnSpPr>
            <a:cxnSpLocks/>
          </p:cNvCxnSpPr>
          <p:nvPr/>
        </p:nvCxnSpPr>
        <p:spPr>
          <a:xfrm flipH="1">
            <a:off x="7808747" y="3502405"/>
            <a:ext cx="48937" cy="706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EA7AA49-2F9D-DBD9-A6B1-C21F1EC4CAB3}"/>
              </a:ext>
            </a:extLst>
          </p:cNvPr>
          <p:cNvSpPr/>
          <p:nvPr/>
        </p:nvSpPr>
        <p:spPr>
          <a:xfrm>
            <a:off x="6927908" y="4208476"/>
            <a:ext cx="1887521" cy="6920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af-ZA" sz="1800" baseline="0" dirty="0" err="1">
                <a:solidFill>
                  <a:srgbClr val="FFFFFF"/>
                </a:solidFill>
                <a:latin typeface="PermianSansTypeface"/>
              </a:rPr>
              <a:t>Quick_sort</a:t>
            </a:r>
            <a:r>
              <a:rPr lang="af-ZA" dirty="0">
                <a:solidFill>
                  <a:srgbClr val="FFFFFF"/>
                </a:solidFill>
                <a:latin typeface="PermianSansTypeface"/>
              </a:rPr>
              <a:t>(</a:t>
            </a:r>
            <a:r>
              <a:rPr lang="af-ZA" dirty="0" err="1">
                <a:solidFill>
                  <a:srgbClr val="FFFFFF"/>
                </a:solidFill>
                <a:latin typeface="PermianSansTypeface"/>
              </a:rPr>
              <a:t>right</a:t>
            </a:r>
            <a:r>
              <a:rPr lang="af-ZA" dirty="0">
                <a:solidFill>
                  <a:srgbClr val="FFFFFF"/>
                </a:solidFill>
                <a:latin typeface="PermianSansTypeface"/>
              </a:rPr>
              <a:t>,</a:t>
            </a:r>
            <a:r>
              <a:rPr lang="af-ZA" sz="1800" baseline="0" dirty="0">
                <a:solidFill>
                  <a:srgbClr val="FFFFFF"/>
                </a:solidFill>
                <a:latin typeface="PermianSansTypeface"/>
              </a:rPr>
              <a:t> </a:t>
            </a:r>
            <a:r>
              <a:rPr lang="af-ZA" sz="1800" baseline="0" dirty="0" err="1">
                <a:solidFill>
                  <a:srgbClr val="FFFFFF"/>
                </a:solidFill>
                <a:latin typeface="PermianSansTypeface"/>
              </a:rPr>
              <a:t>key-func</a:t>
            </a:r>
            <a:r>
              <a:rPr lang="af-ZA" sz="1800" baseline="0" dirty="0">
                <a:solidFill>
                  <a:srgbClr val="FFFFFF"/>
                </a:solidFill>
                <a:latin typeface="PermianSansTypeface"/>
              </a:rPr>
              <a:t>)</a:t>
            </a:r>
            <a:r>
              <a:rPr lang="af-ZA" sz="1800" dirty="0">
                <a:latin typeface="PermianSansTypeface"/>
                <a:ea typeface="PermianSansTypeface"/>
                <a:cs typeface="PermianSansTypeface"/>
              </a:rPr>
              <a:t>​</a:t>
            </a:r>
            <a:endParaRPr lang="ru-RU" dirty="0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1CAFFF4-EFDB-B5A0-DFC6-A61B3C45D961}"/>
              </a:ext>
            </a:extLst>
          </p:cNvPr>
          <p:cNvCxnSpPr>
            <a:cxnSpLocks/>
          </p:cNvCxnSpPr>
          <p:nvPr/>
        </p:nvCxnSpPr>
        <p:spPr>
          <a:xfrm>
            <a:off x="5501774" y="3865927"/>
            <a:ext cx="0" cy="221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B03FABF-A65E-470B-D1AA-09DC25315B5E}"/>
              </a:ext>
            </a:extLst>
          </p:cNvPr>
          <p:cNvCxnSpPr>
            <a:cxnSpLocks/>
          </p:cNvCxnSpPr>
          <p:nvPr/>
        </p:nvCxnSpPr>
        <p:spPr>
          <a:xfrm>
            <a:off x="3530363" y="4928533"/>
            <a:ext cx="1950439" cy="1146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0CB03267-FB8E-2CB0-3396-4B33CCB4576F}"/>
              </a:ext>
            </a:extLst>
          </p:cNvPr>
          <p:cNvCxnSpPr>
            <a:cxnSpLocks/>
          </p:cNvCxnSpPr>
          <p:nvPr/>
        </p:nvCxnSpPr>
        <p:spPr>
          <a:xfrm flipH="1">
            <a:off x="5522748" y="4914551"/>
            <a:ext cx="1782660" cy="1181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41AF8C-A535-37E9-9DA9-4FC6A2496FF3}"/>
              </a:ext>
            </a:extLst>
          </p:cNvPr>
          <p:cNvSpPr/>
          <p:nvPr/>
        </p:nvSpPr>
        <p:spPr>
          <a:xfrm>
            <a:off x="-236483" y="-98534"/>
            <a:ext cx="10405241" cy="735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Алгоритм сортировки Хоара</a:t>
            </a:r>
          </a:p>
        </p:txBody>
      </p:sp>
    </p:spTree>
    <p:extLst>
      <p:ext uri="{BB962C8B-B14F-4D97-AF65-F5344CB8AC3E}">
        <p14:creationId xmlns:p14="http://schemas.microsoft.com/office/powerpoint/2010/main" val="245034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019CDD-E6A3-634F-4E95-1C6D8B29359A}"/>
              </a:ext>
            </a:extLst>
          </p:cNvPr>
          <p:cNvSpPr/>
          <p:nvPr/>
        </p:nvSpPr>
        <p:spPr>
          <a:xfrm>
            <a:off x="-341587" y="-144518"/>
            <a:ext cx="9906000" cy="1116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Процесс формирования отчета (на примере отчета №2)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8216AA7-9D48-92EE-7202-3C25DFBA585A}"/>
              </a:ext>
            </a:extLst>
          </p:cNvPr>
          <p:cNvSpPr/>
          <p:nvPr/>
        </p:nvSpPr>
        <p:spPr>
          <a:xfrm>
            <a:off x="2083266" y="1160476"/>
            <a:ext cx="5201173" cy="3215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Запрос на формирование отчёта 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7BDFCEA6-9A6D-7EEA-CB06-A9D3B3B053BD}"/>
              </a:ext>
            </a:extLst>
          </p:cNvPr>
          <p:cNvCxnSpPr/>
          <p:nvPr/>
        </p:nvCxnSpPr>
        <p:spPr>
          <a:xfrm>
            <a:off x="4488109" y="1468072"/>
            <a:ext cx="34953" cy="39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C7A6F35-EAB9-87FA-7297-78F077E138A5}"/>
              </a:ext>
            </a:extLst>
          </p:cNvPr>
          <p:cNvSpPr/>
          <p:nvPr/>
        </p:nvSpPr>
        <p:spPr>
          <a:xfrm>
            <a:off x="2167155" y="1887522"/>
            <a:ext cx="5075339" cy="5592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Фильтрация вакансий </a:t>
            </a:r>
          </a:p>
          <a:p>
            <a:pPr algn="ctr"/>
            <a:r>
              <a:rPr lang="ru-RU" dirty="0" err="1"/>
              <a:t>probation_period</a:t>
            </a:r>
            <a:r>
              <a:rPr lang="ru-RU" dirty="0"/>
              <a:t> &gt;= 2 </a:t>
            </a:r>
            <a:r>
              <a:rPr lang="ru-RU" dirty="0" err="1"/>
              <a:t>мес</a:t>
            </a:r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E7F5B4D-1C50-9BA7-836F-92C0ED677BDC}"/>
              </a:ext>
            </a:extLst>
          </p:cNvPr>
          <p:cNvCxnSpPr>
            <a:cxnSpLocks/>
          </p:cNvCxnSpPr>
          <p:nvPr/>
        </p:nvCxnSpPr>
        <p:spPr>
          <a:xfrm>
            <a:off x="4481117" y="2453778"/>
            <a:ext cx="48935" cy="370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7CC3594-D3ED-923F-5D50-A2E0D9E4D034}"/>
              </a:ext>
            </a:extLst>
          </p:cNvPr>
          <p:cNvSpPr/>
          <p:nvPr/>
        </p:nvSpPr>
        <p:spPr>
          <a:xfrm>
            <a:off x="2404845" y="5173210"/>
            <a:ext cx="4913151" cy="914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Вывод отсортированных данных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05ECC81-E5CA-10E0-55E6-689C9E6BB1B7}"/>
              </a:ext>
            </a:extLst>
          </p:cNvPr>
          <p:cNvSpPr/>
          <p:nvPr/>
        </p:nvSpPr>
        <p:spPr>
          <a:xfrm>
            <a:off x="2125212" y="2831283"/>
            <a:ext cx="5094911" cy="914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ru-RU" dirty="0"/>
              <a:t>Применение функции ключа </a:t>
            </a:r>
            <a:endParaRPr lang="ru-RU"/>
          </a:p>
          <a:p>
            <a:r>
              <a:rPr lang="ru-RU" dirty="0"/>
              <a:t>Key_report2(v):</a:t>
            </a:r>
          </a:p>
          <a:p>
            <a:r>
              <a:rPr lang="ru-RU" dirty="0"/>
              <a:t>Return (-</a:t>
            </a:r>
            <a:r>
              <a:rPr lang="ru-RU" dirty="0" err="1"/>
              <a:t>probation_period</a:t>
            </a:r>
            <a:r>
              <a:rPr lang="ru-RU" dirty="0"/>
              <a:t>, </a:t>
            </a:r>
            <a:r>
              <a:rPr lang="ru-RU" dirty="0" err="1"/>
              <a:t>experience</a:t>
            </a:r>
            <a:r>
              <a:rPr lang="ru-RU" dirty="0"/>
              <a:t>, </a:t>
            </a:r>
            <a:r>
              <a:rPr lang="ru-RU" dirty="0" err="1"/>
              <a:t>max_age</a:t>
            </a:r>
            <a:r>
              <a:rPr lang="ru-RU" dirty="0"/>
              <a:t>)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CEA9CC35-6637-DB10-4C3F-B35F8DEB2652}"/>
              </a:ext>
            </a:extLst>
          </p:cNvPr>
          <p:cNvCxnSpPr>
            <a:cxnSpLocks/>
          </p:cNvCxnSpPr>
          <p:nvPr/>
        </p:nvCxnSpPr>
        <p:spPr>
          <a:xfrm>
            <a:off x="4732787" y="3754070"/>
            <a:ext cx="62916" cy="454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E2C58C0-4A6C-ECA0-ADA7-7CDCCA6E6E78}"/>
              </a:ext>
            </a:extLst>
          </p:cNvPr>
          <p:cNvSpPr/>
          <p:nvPr/>
        </p:nvSpPr>
        <p:spPr>
          <a:xfrm>
            <a:off x="2286000" y="4229448"/>
            <a:ext cx="4955097" cy="4879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 err="1"/>
              <a:t>Quick_sort</a:t>
            </a:r>
            <a:r>
              <a:rPr lang="ru-RU" dirty="0"/>
              <a:t>(</a:t>
            </a:r>
            <a:r>
              <a:rPr lang="ru-RU" dirty="0" err="1"/>
              <a:t>filtered</a:t>
            </a:r>
            <a:r>
              <a:rPr lang="ru-RU" dirty="0"/>
              <a:t>, key_report2)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2663839-7E64-1F96-91A2-18E452EA0FE8}"/>
              </a:ext>
            </a:extLst>
          </p:cNvPr>
          <p:cNvCxnSpPr>
            <a:cxnSpLocks/>
          </p:cNvCxnSpPr>
          <p:nvPr/>
        </p:nvCxnSpPr>
        <p:spPr>
          <a:xfrm flipH="1">
            <a:off x="4865612" y="4718803"/>
            <a:ext cx="6991" cy="454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267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A20DC85-BC9E-FAA0-3F65-112F7713E187}"/>
              </a:ext>
            </a:extLst>
          </p:cNvPr>
          <p:cNvSpPr/>
          <p:nvPr/>
        </p:nvSpPr>
        <p:spPr>
          <a:xfrm>
            <a:off x="-96956" y="-112620"/>
            <a:ext cx="9241871" cy="1076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Функции-ключи для всех отчётов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C3BAFE9-CF81-1236-7FD7-73572F2C1A52}"/>
              </a:ext>
            </a:extLst>
          </p:cNvPr>
          <p:cNvSpPr/>
          <p:nvPr/>
        </p:nvSpPr>
        <p:spPr>
          <a:xfrm>
            <a:off x="824917" y="1188439"/>
            <a:ext cx="7606018" cy="6012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Функции-ключи для сортировки</a:t>
            </a: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C6FE585B-3C23-4F59-0750-94CAC3E0E6D4}"/>
              </a:ext>
            </a:extLst>
          </p:cNvPr>
          <p:cNvCxnSpPr/>
          <p:nvPr/>
        </p:nvCxnSpPr>
        <p:spPr>
          <a:xfrm>
            <a:off x="1269507" y="1765202"/>
            <a:ext cx="13981" cy="447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4E57942F-E67D-11F6-4BAA-2AB339BD9E76}"/>
              </a:ext>
            </a:extLst>
          </p:cNvPr>
          <p:cNvCxnSpPr>
            <a:cxnSpLocks/>
          </p:cNvCxnSpPr>
          <p:nvPr/>
        </p:nvCxnSpPr>
        <p:spPr>
          <a:xfrm>
            <a:off x="4478464" y="1716303"/>
            <a:ext cx="13981" cy="447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2101E657-6408-4996-E91D-F62761506C1A}"/>
              </a:ext>
            </a:extLst>
          </p:cNvPr>
          <p:cNvCxnSpPr>
            <a:cxnSpLocks/>
          </p:cNvCxnSpPr>
          <p:nvPr/>
        </p:nvCxnSpPr>
        <p:spPr>
          <a:xfrm>
            <a:off x="7999148" y="1716303"/>
            <a:ext cx="13981" cy="447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CC21612-8AA5-6259-664A-D557CAD8FDAB}"/>
              </a:ext>
            </a:extLst>
          </p:cNvPr>
          <p:cNvSpPr/>
          <p:nvPr/>
        </p:nvSpPr>
        <p:spPr>
          <a:xfrm>
            <a:off x="354664" y="4939634"/>
            <a:ext cx="2080423" cy="16777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Сортировка по возрастанию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E0417CB-86C5-92D7-EF44-39C40A848C8C}"/>
              </a:ext>
            </a:extLst>
          </p:cNvPr>
          <p:cNvSpPr/>
          <p:nvPr/>
        </p:nvSpPr>
        <p:spPr>
          <a:xfrm>
            <a:off x="342438" y="2237997"/>
            <a:ext cx="1945954" cy="19467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Отчет 1 </a:t>
            </a:r>
          </a:p>
          <a:p>
            <a:pPr algn="ctr"/>
            <a:r>
              <a:rPr lang="ru-RU" dirty="0"/>
              <a:t>Key1(v):(образование, </a:t>
            </a:r>
            <a:r>
              <a:rPr lang="ru-RU"/>
              <a:t>должность)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9A76459-C788-1E84-37FC-404FCBB2EC88}"/>
              </a:ext>
            </a:extLst>
          </p:cNvPr>
          <p:cNvSpPr/>
          <p:nvPr/>
        </p:nvSpPr>
        <p:spPr>
          <a:xfrm>
            <a:off x="3636968" y="2164651"/>
            <a:ext cx="1976516" cy="19528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Отчет 2 </a:t>
            </a:r>
          </a:p>
          <a:p>
            <a:pPr algn="ctr"/>
            <a:r>
              <a:rPr lang="ru-RU" dirty="0"/>
              <a:t>Key2(v):</a:t>
            </a:r>
          </a:p>
          <a:p>
            <a:pPr algn="ctr"/>
            <a:r>
              <a:rPr lang="ru-RU" dirty="0"/>
              <a:t>(-</a:t>
            </a:r>
            <a:r>
              <a:rPr lang="ru-RU" dirty="0" err="1"/>
              <a:t>испыт</a:t>
            </a:r>
            <a:r>
              <a:rPr lang="ru-RU" dirty="0"/>
              <a:t>. срок, -стаж, макс. возраст)</a:t>
            </a:r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EF0E1E1-6759-F86E-5E81-7E79A61A491A}"/>
              </a:ext>
            </a:extLst>
          </p:cNvPr>
          <p:cNvSpPr/>
          <p:nvPr/>
        </p:nvSpPr>
        <p:spPr>
          <a:xfrm>
            <a:off x="6980395" y="2213549"/>
            <a:ext cx="1976516" cy="19528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Отчет 3 </a:t>
            </a:r>
          </a:p>
          <a:p>
            <a:pPr algn="ctr"/>
            <a:r>
              <a:rPr lang="ru-RU" dirty="0"/>
              <a:t>Key3(v):</a:t>
            </a:r>
          </a:p>
          <a:p>
            <a:pPr algn="ctr"/>
            <a:r>
              <a:rPr lang="ru-RU" dirty="0"/>
              <a:t>(соцпакет, -</a:t>
            </a:r>
            <a:r>
              <a:rPr lang="ru-RU" dirty="0" err="1"/>
              <a:t>испыт</a:t>
            </a:r>
            <a:r>
              <a:rPr lang="ru-RU" dirty="0"/>
              <a:t>. срок)</a:t>
            </a:r>
          </a:p>
          <a:p>
            <a:pPr algn="ctr"/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E119023-3602-40C5-7C05-A999899311BB}"/>
              </a:ext>
            </a:extLst>
          </p:cNvPr>
          <p:cNvCxnSpPr>
            <a:cxnSpLocks/>
          </p:cNvCxnSpPr>
          <p:nvPr/>
        </p:nvCxnSpPr>
        <p:spPr>
          <a:xfrm>
            <a:off x="1245056" y="4179559"/>
            <a:ext cx="7870" cy="765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72BF49F-A7FE-D5AA-6FDF-740BD208019F}"/>
              </a:ext>
            </a:extLst>
          </p:cNvPr>
          <p:cNvSpPr/>
          <p:nvPr/>
        </p:nvSpPr>
        <p:spPr>
          <a:xfrm>
            <a:off x="3533060" y="4939634"/>
            <a:ext cx="2080423" cy="16777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Сортировка по убыванию, убыванию, возрастанию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6662B45-7E5B-9010-2CBC-F6F3DFFB4922}"/>
              </a:ext>
            </a:extLst>
          </p:cNvPr>
          <p:cNvSpPr/>
          <p:nvPr/>
        </p:nvSpPr>
        <p:spPr>
          <a:xfrm>
            <a:off x="6876487" y="4939633"/>
            <a:ext cx="2080423" cy="16777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Сортировка по возрастанию, убыванию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4D1F478E-8DCE-1B28-860B-783AD913BC71}"/>
              </a:ext>
            </a:extLst>
          </p:cNvPr>
          <p:cNvCxnSpPr>
            <a:cxnSpLocks/>
          </p:cNvCxnSpPr>
          <p:nvPr/>
        </p:nvCxnSpPr>
        <p:spPr>
          <a:xfrm>
            <a:off x="4478462" y="4185670"/>
            <a:ext cx="7870" cy="765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611A48BF-FABB-F00D-2ACA-E92CC657FAEA}"/>
              </a:ext>
            </a:extLst>
          </p:cNvPr>
          <p:cNvCxnSpPr>
            <a:cxnSpLocks/>
          </p:cNvCxnSpPr>
          <p:nvPr/>
        </p:nvCxnSpPr>
        <p:spPr>
          <a:xfrm>
            <a:off x="8035820" y="4185671"/>
            <a:ext cx="7870" cy="765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25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94FC64A-1746-F72A-1C8E-0306A0F8078B}"/>
              </a:ext>
            </a:extLst>
          </p:cNvPr>
          <p:cNvSpPr/>
          <p:nvPr/>
        </p:nvSpPr>
        <p:spPr>
          <a:xfrm>
            <a:off x="-132825" y="-125835"/>
            <a:ext cx="9409651" cy="950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Полный цикл обработки данных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142A849-519E-BE5A-E9DC-DB6AB3896C32}"/>
              </a:ext>
            </a:extLst>
          </p:cNvPr>
          <p:cNvSpPr/>
          <p:nvPr/>
        </p:nvSpPr>
        <p:spPr>
          <a:xfrm>
            <a:off x="2530679" y="992697"/>
            <a:ext cx="2474752" cy="5452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Начало работы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5FFB95D-3BCC-238A-6E87-BEC842E2C194}"/>
              </a:ext>
            </a:extLst>
          </p:cNvPr>
          <p:cNvSpPr/>
          <p:nvPr/>
        </p:nvSpPr>
        <p:spPr>
          <a:xfrm>
            <a:off x="2530678" y="2740403"/>
            <a:ext cx="2474752" cy="5452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Главное меню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938154A-034A-26DC-2C9D-71360139E711}"/>
              </a:ext>
            </a:extLst>
          </p:cNvPr>
          <p:cNvSpPr/>
          <p:nvPr/>
        </p:nvSpPr>
        <p:spPr>
          <a:xfrm>
            <a:off x="2530679" y="1817614"/>
            <a:ext cx="2474752" cy="6431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Загрузка данных из </a:t>
            </a:r>
            <a:r>
              <a:rPr lang="ru-RU" dirty="0" err="1"/>
              <a:t>txt</a:t>
            </a:r>
            <a:r>
              <a:rPr lang="ru-RU" dirty="0"/>
              <a:t> файла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5811760D-3030-D44D-0B94-E5E4C9BA5A59}"/>
              </a:ext>
            </a:extLst>
          </p:cNvPr>
          <p:cNvCxnSpPr/>
          <p:nvPr/>
        </p:nvCxnSpPr>
        <p:spPr>
          <a:xfrm>
            <a:off x="3635229" y="1537981"/>
            <a:ext cx="13981" cy="279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F49F5DD4-152C-1F69-C51B-6CEC049009A0}"/>
              </a:ext>
            </a:extLst>
          </p:cNvPr>
          <p:cNvCxnSpPr>
            <a:cxnSpLocks/>
          </p:cNvCxnSpPr>
          <p:nvPr/>
        </p:nvCxnSpPr>
        <p:spPr>
          <a:xfrm>
            <a:off x="3635228" y="2460770"/>
            <a:ext cx="13981" cy="279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A5C25EE1-CA92-28FC-531B-604724CDB1B6}"/>
              </a:ext>
            </a:extLst>
          </p:cNvPr>
          <p:cNvCxnSpPr>
            <a:cxnSpLocks/>
          </p:cNvCxnSpPr>
          <p:nvPr/>
        </p:nvCxnSpPr>
        <p:spPr>
          <a:xfrm flipH="1">
            <a:off x="2579613" y="3313651"/>
            <a:ext cx="6991" cy="384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6B1097C-10A9-5711-3B07-75ABF7F3FDC9}"/>
              </a:ext>
            </a:extLst>
          </p:cNvPr>
          <p:cNvSpPr/>
          <p:nvPr/>
        </p:nvSpPr>
        <p:spPr>
          <a:xfrm>
            <a:off x="1544972" y="3698147"/>
            <a:ext cx="1971412" cy="615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Операции с данными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6819C37-0AE7-6D10-A053-55A6FBDAA1BE}"/>
              </a:ext>
            </a:extLst>
          </p:cNvPr>
          <p:cNvSpPr/>
          <p:nvPr/>
        </p:nvSpPr>
        <p:spPr>
          <a:xfrm>
            <a:off x="2530678" y="4620935"/>
            <a:ext cx="2474751" cy="615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Сохранение изменений в файле 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E2D5179-0976-6A60-D970-0ECF86405FCA}"/>
              </a:ext>
            </a:extLst>
          </p:cNvPr>
          <p:cNvSpPr/>
          <p:nvPr/>
        </p:nvSpPr>
        <p:spPr>
          <a:xfrm>
            <a:off x="3900880" y="3656202"/>
            <a:ext cx="1936458" cy="615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3 отчета 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C68850CD-22BA-AA9C-D612-2D45FF328F22}"/>
              </a:ext>
            </a:extLst>
          </p:cNvPr>
          <p:cNvCxnSpPr>
            <a:cxnSpLocks/>
          </p:cNvCxnSpPr>
          <p:nvPr/>
        </p:nvCxnSpPr>
        <p:spPr>
          <a:xfrm flipH="1">
            <a:off x="4809687" y="3264715"/>
            <a:ext cx="55925" cy="426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A5C25EE1-CA92-28FC-531B-604724CDB1B6}"/>
              </a:ext>
            </a:extLst>
          </p:cNvPr>
          <p:cNvCxnSpPr>
            <a:cxnSpLocks/>
          </p:cNvCxnSpPr>
          <p:nvPr/>
        </p:nvCxnSpPr>
        <p:spPr>
          <a:xfrm flipH="1">
            <a:off x="2579613" y="3313651"/>
            <a:ext cx="6991" cy="384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4EEB447-0F80-44A6-C07D-4F73AD688E97}"/>
              </a:ext>
            </a:extLst>
          </p:cNvPr>
          <p:cNvCxnSpPr>
            <a:cxnSpLocks/>
          </p:cNvCxnSpPr>
          <p:nvPr/>
        </p:nvCxnSpPr>
        <p:spPr>
          <a:xfrm flipH="1">
            <a:off x="2579613" y="3313651"/>
            <a:ext cx="6991" cy="384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D0AA1C39-80D6-213B-6E62-AEAAD2CEC774}"/>
              </a:ext>
            </a:extLst>
          </p:cNvPr>
          <p:cNvSpPr/>
          <p:nvPr/>
        </p:nvSpPr>
        <p:spPr>
          <a:xfrm>
            <a:off x="2530678" y="5697523"/>
            <a:ext cx="2474751" cy="615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выход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D46C3A6B-E478-CFE2-613F-C606A9FB6C58}"/>
              </a:ext>
            </a:extLst>
          </p:cNvPr>
          <p:cNvCxnSpPr>
            <a:cxnSpLocks/>
          </p:cNvCxnSpPr>
          <p:nvPr/>
        </p:nvCxnSpPr>
        <p:spPr>
          <a:xfrm flipH="1">
            <a:off x="2859246" y="4236439"/>
            <a:ext cx="6991" cy="384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FDBF892-B666-07A7-D6C2-8A7E188F4051}"/>
              </a:ext>
            </a:extLst>
          </p:cNvPr>
          <p:cNvCxnSpPr>
            <a:cxnSpLocks/>
          </p:cNvCxnSpPr>
          <p:nvPr/>
        </p:nvCxnSpPr>
        <p:spPr>
          <a:xfrm flipH="1">
            <a:off x="4530053" y="4236440"/>
            <a:ext cx="6991" cy="384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3E087DD9-30F6-67B3-ABDF-6E96CC166A54}"/>
              </a:ext>
            </a:extLst>
          </p:cNvPr>
          <p:cNvCxnSpPr>
            <a:cxnSpLocks/>
          </p:cNvCxnSpPr>
          <p:nvPr/>
        </p:nvCxnSpPr>
        <p:spPr>
          <a:xfrm>
            <a:off x="3677173" y="5236128"/>
            <a:ext cx="41943" cy="461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A5A16D1F-B028-1205-195E-7C22E11E7D9E}"/>
              </a:ext>
            </a:extLst>
          </p:cNvPr>
          <p:cNvCxnSpPr/>
          <p:nvPr/>
        </p:nvCxnSpPr>
        <p:spPr>
          <a:xfrm>
            <a:off x="5005431" y="4907559"/>
            <a:ext cx="1426128" cy="13981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24A9C5F3-F251-EE0D-F04C-0892AEF8EF5A}"/>
              </a:ext>
            </a:extLst>
          </p:cNvPr>
          <p:cNvCxnSpPr>
            <a:cxnSpLocks/>
          </p:cNvCxnSpPr>
          <p:nvPr/>
        </p:nvCxnSpPr>
        <p:spPr>
          <a:xfrm flipH="1" flipV="1">
            <a:off x="6445541" y="2153174"/>
            <a:ext cx="6990" cy="274739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6DD7A116-40C0-D674-FBAA-948A66299D44}"/>
              </a:ext>
            </a:extLst>
          </p:cNvPr>
          <p:cNvCxnSpPr>
            <a:cxnSpLocks/>
          </p:cNvCxnSpPr>
          <p:nvPr/>
        </p:nvCxnSpPr>
        <p:spPr>
          <a:xfrm flipH="1">
            <a:off x="5047374" y="2188130"/>
            <a:ext cx="1363213" cy="27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338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14466-684D-0883-D5C4-5D2B06CE1335}"/>
              </a:ext>
            </a:extLst>
          </p:cNvPr>
          <p:cNvSpPr/>
          <p:nvPr/>
        </p:nvSpPr>
        <p:spPr>
          <a:xfrm>
            <a:off x="2459" y="2178"/>
            <a:ext cx="9262241" cy="1011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Тестирование программы: меню и загрузка всех вакансий </a:t>
            </a:r>
          </a:p>
        </p:txBody>
      </p:sp>
      <p:pic>
        <p:nvPicPr>
          <p:cNvPr id="8" name="Рисунок 7" descr="Изображение выглядит как текст, снимок экрана, меню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3DCC77-1E8B-B323-3CFA-20C7AEE59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415" y="1113932"/>
            <a:ext cx="4650171" cy="447248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6F2869-E45D-EB70-E25F-97713B6B7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2421"/>
            <a:ext cx="4184430" cy="427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92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DCB0F48-3E97-C7CA-9B31-13DB571BF5C4}"/>
              </a:ext>
            </a:extLst>
          </p:cNvPr>
          <p:cNvSpPr/>
          <p:nvPr/>
        </p:nvSpPr>
        <p:spPr>
          <a:xfrm>
            <a:off x="-197069" y="-249621"/>
            <a:ext cx="9866586" cy="1077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Тестирование программы: добавление</a:t>
            </a:r>
          </a:p>
        </p:txBody>
      </p:sp>
      <p:pic>
        <p:nvPicPr>
          <p:cNvPr id="12" name="Рисунок 11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29A65E-E26A-0959-24B1-E86F5D333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56" y="966295"/>
            <a:ext cx="2917606" cy="332915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FD7C19-93BF-AA7C-341B-12B82633A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103" y="876300"/>
            <a:ext cx="5432862" cy="3502571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1365E2-2BF2-41D1-42BA-83A1BF8A8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56" y="4504503"/>
            <a:ext cx="8804384" cy="211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13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A8327-8A3E-BC40-1413-2B5FEC092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09B9B26-E67C-2D4F-A365-0273D1CA5ABA}"/>
              </a:ext>
            </a:extLst>
          </p:cNvPr>
          <p:cNvSpPr/>
          <p:nvPr/>
        </p:nvSpPr>
        <p:spPr>
          <a:xfrm>
            <a:off x="2459" y="2178"/>
            <a:ext cx="9262241" cy="1011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Тестирование программы: редактирование </a:t>
            </a:r>
          </a:p>
        </p:txBody>
      </p:sp>
      <p:pic>
        <p:nvPicPr>
          <p:cNvPr id="4" name="Рисунок 3" descr="Изображение выглядит как текст, Шриф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3C4C85A-59BC-0423-9448-CD775617A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8" y="1173382"/>
            <a:ext cx="2333625" cy="2619375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83582F-5507-0853-BFA1-107F04652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608" y="4110367"/>
            <a:ext cx="6618233" cy="167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66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A75B-4F30-7200-D55B-1847C19F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57EA82-1511-20D2-113E-C23E71F213BA}"/>
              </a:ext>
            </a:extLst>
          </p:cNvPr>
          <p:cNvSpPr/>
          <p:nvPr/>
        </p:nvSpPr>
        <p:spPr>
          <a:xfrm>
            <a:off x="2459" y="2178"/>
            <a:ext cx="9262241" cy="1011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2400" dirty="0"/>
              <a:t>Тестирование программы: удаление</a:t>
            </a:r>
          </a:p>
        </p:txBody>
      </p:sp>
      <p:pic>
        <p:nvPicPr>
          <p:cNvPr id="2" name="Рисунок 1" descr="Изображение выглядит как текст, меню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862001-5363-479B-9852-EB52F6C79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89" y="1190625"/>
            <a:ext cx="2397015" cy="5639456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4F929E-0F10-CE04-4460-FE0D15F39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249" y="2975085"/>
            <a:ext cx="6129174" cy="103921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19A589-1F43-75ED-D5B9-08C88B817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235" y="4865632"/>
            <a:ext cx="6219168" cy="117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86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D0086-1D75-63C0-BD87-16608A39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A078210-7AF2-7AC6-4E46-D3E44522059E}"/>
              </a:ext>
            </a:extLst>
          </p:cNvPr>
          <p:cNvSpPr/>
          <p:nvPr/>
        </p:nvSpPr>
        <p:spPr>
          <a:xfrm>
            <a:off x="2459" y="2178"/>
            <a:ext cx="9262241" cy="1011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2400" dirty="0"/>
              <a:t> 1 отчет: сортировка образования (по возрастанию) и должности (по возрастанию).</a:t>
            </a:r>
            <a:endParaRPr lang="ru-RU" sz="2400">
              <a:solidFill>
                <a:srgbClr val="FFFFFF"/>
              </a:solidFill>
              <a:latin typeface="PermianSansTypeface"/>
              <a:cs typeface="Times New Roman"/>
            </a:endParaRPr>
          </a:p>
        </p:txBody>
      </p:sp>
      <p:pic>
        <p:nvPicPr>
          <p:cNvPr id="6" name="Рисунок 5" descr="Изображение выглядит как текст, снимок экрана, меню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AD6E52-3413-8EDF-1AF4-D8460A703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487" y="1195552"/>
            <a:ext cx="6706405" cy="546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C355E-056E-A6F9-FA9E-AA2C14198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2E40FA2-455D-E87F-95BF-875D66DCAF73}"/>
              </a:ext>
            </a:extLst>
          </p:cNvPr>
          <p:cNvSpPr/>
          <p:nvPr/>
        </p:nvSpPr>
        <p:spPr>
          <a:xfrm>
            <a:off x="2459" y="2178"/>
            <a:ext cx="9262241" cy="1445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2400" dirty="0"/>
              <a:t> 2 отчет: список всех вакансий с испытательным сроком не менее 2 месяцев, отсортированный по следующему ключу: испытательный срок (по убыванию) + необходимый стаж работы (по убыванию) + максимальный возраст (по возрастанию). 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pic>
        <p:nvPicPr>
          <p:cNvPr id="5" name="Рисунок 4" descr="Изображение выглядит как текст, снимок экрана, меню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7DC5B1-DFBD-0D96-3D90-A7EDCF45F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2362"/>
            <a:ext cx="9144000" cy="521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20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F85E5-6462-6E88-4F81-74F8CBDD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1076FC9-5E5C-E3F3-83B8-3217B08EB6CE}"/>
              </a:ext>
            </a:extLst>
          </p:cNvPr>
          <p:cNvSpPr/>
          <p:nvPr/>
        </p:nvSpPr>
        <p:spPr>
          <a:xfrm>
            <a:off x="2459" y="2178"/>
            <a:ext cx="9262241" cy="1445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2400" dirty="0">
                <a:solidFill>
                  <a:srgbClr val="FFFFFF"/>
                </a:solidFill>
                <a:latin typeface="PermianSansTypeface"/>
                <a:cs typeface="Times New Roman"/>
              </a:rPr>
              <a:t>3 отчет: список всех вакансий, с окладом в диапазоне от N1 до N2 рублей, отсортированный по следующему ключу: наличие соцпакета (по возрастанию) + испытательный срок (по убыванию).</a:t>
            </a:r>
          </a:p>
        </p:txBody>
      </p:sp>
      <p:pic>
        <p:nvPicPr>
          <p:cNvPr id="6" name="Рисунок 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AAEE3C-EAF3-F350-79C9-44A4E2924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3816"/>
            <a:ext cx="9144000" cy="3950368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49BC92-DEE0-BB0E-A16F-C185C733A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5558987"/>
            <a:ext cx="67818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08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AF084-93EF-9C4F-A424-E753D3EB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4E12C9A-92A5-3AE0-9278-2838A808A790}"/>
              </a:ext>
            </a:extLst>
          </p:cNvPr>
          <p:cNvSpPr/>
          <p:nvPr/>
        </p:nvSpPr>
        <p:spPr>
          <a:xfrm>
            <a:off x="2459" y="2178"/>
            <a:ext cx="9262241" cy="1011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2400" dirty="0"/>
              <a:t>Тестирование программы: сохранение и выход</a:t>
            </a:r>
          </a:p>
        </p:txBody>
      </p:sp>
      <p:pic>
        <p:nvPicPr>
          <p:cNvPr id="4" name="Рисунок 3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11ADEE-6261-DD35-084D-B6A65A086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44" y="1214109"/>
            <a:ext cx="7135867" cy="1500023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EC8A0D-5DB4-DDBD-1A97-DA4007290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025" y="2980503"/>
            <a:ext cx="4290191" cy="1816647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D9F520-FA92-C187-0950-34E81FAE3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27" y="5058267"/>
            <a:ext cx="9090134" cy="132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41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4177A5-D7C0-3318-BB71-275854BD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42DA31-3DA1-992F-0934-2A1EC3F88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Разработана система управления базой вакансий.</a:t>
            </a:r>
          </a:p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Реализованы все требуемые функции и отчеты.</a:t>
            </a:r>
          </a:p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Применен алгоритм быстрой сортировки Хоара.</a:t>
            </a:r>
          </a:p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Обеспечена надежная работа и обработка ошибок.</a:t>
            </a:r>
            <a:br>
              <a:rPr lang="ru-RU" dirty="0">
                <a:solidFill>
                  <a:srgbClr val="000000"/>
                </a:solidFill>
                <a:ea typeface="+mn-lt"/>
                <a:cs typeface="+mn-lt"/>
              </a:rPr>
            </a:b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46131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798</TotalTime>
  <Words>159</Words>
  <Application>Microsoft Office PowerPoint</Application>
  <PresentationFormat>Экран (4:3)</PresentationFormat>
  <Paragraphs>13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Индивидуальный проект"Система управления вакансиями"</vt:lpstr>
      <vt:lpstr>Постановка задачи</vt:lpstr>
      <vt:lpstr>Алгоритм решения: общая программа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Дарья Кетова</cp:lastModifiedBy>
  <cp:revision>624</cp:revision>
  <dcterms:created xsi:type="dcterms:W3CDTF">2020-05-17T17:29:28Z</dcterms:created>
  <dcterms:modified xsi:type="dcterms:W3CDTF">2026-01-13T19:06:18Z</dcterms:modified>
</cp:coreProperties>
</file>